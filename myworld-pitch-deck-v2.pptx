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035040"/>
            <a:ext cx="12192000" cy="822960"/>
          </a:xfrm>
          <a:prstGeom prst="rect">
            <a:avLst/>
          </a:prstGeom>
          <a:ln/>
        </p:spPr>
      </p:sp>
      <p:sp>
        <p:nvSpPr>
          <p:cNvPr id="4" name="Shape 2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-640080"/>
            <a:ext cx="3108960" cy="3108960"/>
          </a:xfrm>
          <a:prstGeom prst="ellipse">
            <a:avLst/>
          </a:prstGeom>
          <a:solidFill>
            <a:srgbClr val="2DD4BF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384048"/>
            <a:ext cx="1645920" cy="274320"/>
          </a:xfrm>
          <a:prstGeom prst="rect">
            <a:avLst>
              <a:gd name="adj" fmla="val 13333"/>
            </a:avLst>
          </a:prstGeom>
          <a:solidFill>
            <a:srgbClr val="2DD4BF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840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SUI + WALRUS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spc="-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</a:t>
            </a:r>
            <a:endParaRPr lang="en-US" sz="8800" dirty="0"/>
          </a:p>
        </p:txBody>
      </p:sp>
      <p:sp>
        <p:nvSpPr>
          <p:cNvPr id="9" name="Shape 7"/>
          <p:cNvSpPr/>
          <p:nvPr/>
        </p:nvSpPr>
        <p:spPr>
          <a:xfrm>
            <a:off x="502920" y="2340864"/>
            <a:ext cx="292608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8716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Content. Own Your World.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07238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Social Protocol — Sui x ONE Samurai Hackathon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144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myworld-app.vercel.app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Is Broken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36192"/>
            <a:ext cx="4069080" cy="1572768"/>
          </a:xfrm>
          <a:prstGeom prst="rect">
            <a:avLst>
              <a:gd name="adj" fmla="val 3488"/>
            </a:avLst>
          </a:prstGeom>
          <a:solidFill>
            <a:srgbClr val="121A4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6824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Ownership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011680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own your posts, your data, and your audience — not you.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364992"/>
            <a:ext cx="4069080" cy="1572768"/>
          </a:xfrm>
          <a:prstGeom prst="rect">
            <a:avLst>
              <a:gd name="adj" fmla="val 3488"/>
            </a:avLst>
          </a:prstGeom>
          <a:solidFill>
            <a:srgbClr val="121A4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5112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Control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" y="3840480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is auctioned. Reach is pay-to-play.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536192"/>
            <a:ext cx="4069080" cy="1572768"/>
          </a:xfrm>
          <a:prstGeom prst="rect">
            <a:avLst>
              <a:gd name="adj" fmla="val 3488"/>
            </a:avLst>
          </a:prstGeom>
          <a:solidFill>
            <a:srgbClr val="121A4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16824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Extraction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65192" y="2011680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generate billions. They see cents.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3364992"/>
            <a:ext cx="4069080" cy="1572768"/>
          </a:xfrm>
          <a:prstGeom prst="rect">
            <a:avLst>
              <a:gd name="adj" fmla="val 3488"/>
            </a:avLst>
          </a:prstGeom>
          <a:solidFill>
            <a:srgbClr val="121A4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35112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Disconnect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5192" y="3840480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have zero stake in the creator they support.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5321808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internet made everyone connected… but platforms made everyone controlled."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Internet Is Emerging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1737360" cy="347472"/>
          </a:xfrm>
          <a:prstGeom prst="rect">
            <a:avLst>
              <a:gd name="adj" fmla="val 50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Ownership-Driven (Web3)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72768"/>
            <a:ext cx="1737360" cy="347472"/>
          </a:xfrm>
          <a:prstGeom prst="rect">
            <a:avLst>
              <a:gd name="adj" fmla="val 50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572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Creator-to-Fan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572768"/>
            <a:ext cx="1737360" cy="347472"/>
          </a:xfrm>
          <a:prstGeom prst="rect">
            <a:avLst>
              <a:gd name="adj" fmla="val 50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5727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Financialized Interactions (DeFi + Social)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157984"/>
            <a:ext cx="8503920" cy="1463040"/>
          </a:xfrm>
          <a:prstGeom prst="rect">
            <a:avLst>
              <a:gd name="adj" fmla="val 3750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6771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Piece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596896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consumer-friendly, real-use social product with on-chain ownership and financial primitives built in from day one.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2670048" cy="1371600"/>
          </a:xfrm>
          <a:prstGeom prst="rect">
            <a:avLst>
              <a:gd name="adj" fmla="val 4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42428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$250B by 2027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55848" y="3822192"/>
            <a:ext cx="2670048" cy="1371600"/>
          </a:xfrm>
          <a:prstGeom prst="rect">
            <a:avLst>
              <a:gd name="adj" fmla="val 4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65576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Commerce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65576" y="42428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$1.2T global market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8776" y="3822192"/>
            <a:ext cx="2670048" cy="1371600"/>
          </a:xfrm>
          <a:prstGeom prst="rect">
            <a:avLst>
              <a:gd name="adj" fmla="val 4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Social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18504" y="4242816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Nascent — first mover wins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534009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Goldman Sachs, Statista 2025 estimates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— Own Your Social Layer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4069080" cy="1572768"/>
          </a:xfrm>
          <a:prstGeom prst="rect">
            <a:avLst>
              <a:gd name="adj" fmla="val 3488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256032" cy="1572768"/>
          </a:xfrm>
          <a:prstGeom prst="rect">
            <a:avLst>
              <a:gd name="adj" fmla="val 21429"/>
            </a:avLst>
          </a:prstGeom>
          <a:solidFill>
            <a:srgbClr val="2DD4BF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1719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Identity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0392" y="2048256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is a Sui object — portable, verifiable, owned by you.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572768"/>
            <a:ext cx="4069080" cy="1572768"/>
          </a:xfrm>
          <a:prstGeom prst="rect">
            <a:avLst>
              <a:gd name="adj" fmla="val 3488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572768"/>
            <a:ext cx="256032" cy="1572768"/>
          </a:xfrm>
          <a:prstGeom prst="rect">
            <a:avLst>
              <a:gd name="adj" fmla="val 21429"/>
            </a:avLst>
          </a:prstGeom>
          <a:solidFill>
            <a:srgbClr val="2DD4BF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48072" y="1719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48072" y="2048256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lives off-chain in Walrus blobs, linked via Sui metadata.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4069080" cy="1572768"/>
          </a:xfrm>
          <a:prstGeom prst="rect">
            <a:avLst>
              <a:gd name="adj" fmla="val 3488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364992"/>
            <a:ext cx="256032" cy="1572768"/>
          </a:xfrm>
          <a:prstGeom prst="rect">
            <a:avLst>
              <a:gd name="adj" fmla="val 21429"/>
            </a:avLst>
          </a:prstGeom>
          <a:solidFill>
            <a:srgbClr val="2DD4BF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" y="35112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Algorithm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0392" y="3840480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invisible forces controlling your reach or visibility.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3364992"/>
            <a:ext cx="4069080" cy="1572768"/>
          </a:xfrm>
          <a:prstGeom prst="rect">
            <a:avLst>
              <a:gd name="adj" fmla="val 3488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364992"/>
            <a:ext cx="256032" cy="1572768"/>
          </a:xfrm>
          <a:prstGeom prst="rect">
            <a:avLst>
              <a:gd name="adj" fmla="val 21429"/>
            </a:avLst>
          </a:prstGeom>
          <a:solidFill>
            <a:srgbClr val="2DD4BF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48072" y="351129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Primitives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148072" y="3840480"/>
            <a:ext cx="3566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Tipping, gating, and engagement rewards baked in from day one.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53218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middlemen. No gatekeepers. Just your world."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myWorld Works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609344"/>
            <a:ext cx="749808" cy="749808"/>
          </a:xfrm>
          <a:prstGeom prst="ellipse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60934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" y="2487168"/>
            <a:ext cx="1956816" cy="1828800"/>
          </a:xfrm>
          <a:prstGeom prst="rect">
            <a:avLst>
              <a:gd name="adj" fmla="val 3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615184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" y="3145536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identity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Sui object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04288" y="3355848"/>
            <a:ext cx="2743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3145536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90672" y="1609344"/>
            <a:ext cx="749808" cy="749808"/>
          </a:xfrm>
          <a:prstGeom prst="ellipse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90672" y="160934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578608" y="2487168"/>
            <a:ext cx="1956816" cy="1828800"/>
          </a:xfrm>
          <a:prstGeom prst="rect">
            <a:avLst>
              <a:gd name="adj" fmla="val 3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2615184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70048" y="3145536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Walrus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(scalable)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35424" y="3355848"/>
            <a:ext cx="2743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35424" y="3145536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21808" y="1609344"/>
            <a:ext cx="749808" cy="749808"/>
          </a:xfrm>
          <a:prstGeom prst="ellipse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21808" y="160934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4809744" y="2487168"/>
            <a:ext cx="1956816" cy="1828800"/>
          </a:xfrm>
          <a:prstGeom prst="rect">
            <a:avLst>
              <a:gd name="adj" fmla="val 3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615184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Linked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01184" y="3145536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+ ownership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on-chain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3355848"/>
            <a:ext cx="2743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145536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52944" y="1609344"/>
            <a:ext cx="749808" cy="749808"/>
          </a:xfrm>
          <a:prstGeom prst="ellipse">
            <a:avLst/>
          </a:prstGeom>
          <a:solidFill>
            <a:srgbClr val="2DD4BF">
              <a:alpha val="9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552944" y="1609344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040880" y="2487168"/>
            <a:ext cx="1956816" cy="1828800"/>
          </a:xfrm>
          <a:prstGeom prst="rect">
            <a:avLst>
              <a:gd name="adj" fmla="val 300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615184"/>
            <a:ext cx="177393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Retrieval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3145536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via Sui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480560"/>
            <a:ext cx="8503920" cy="1170432"/>
          </a:xfrm>
          <a:prstGeom prst="rect">
            <a:avLst>
              <a:gd name="adj" fmla="val 4688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5537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Live Today: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" y="4846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creation with on-chain ownership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" y="51023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creation linked to Walrus blob IDs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" y="5358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 / unfollow social graph on Sui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64608" y="4846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Notification system for social interactions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64608" y="51023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demo: myworld-app.vercel.app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Just Social Media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8503920" cy="1207008"/>
          </a:xfrm>
          <a:prstGeom prst="rect">
            <a:avLst>
              <a:gd name="adj" fmla="val 4545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201168" cy="1207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642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99339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own identity, content, and relationships as on-chain objects — not rows in a platform's database.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962656"/>
            <a:ext cx="8503920" cy="1207008"/>
          </a:xfrm>
          <a:prstGeom prst="rect">
            <a:avLst>
              <a:gd name="adj" fmla="val 4545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962656"/>
            <a:ext cx="201168" cy="1207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540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are permanent, censorship-resistant blobs stored in Walrus — retrieval via Sui references, not central servers.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352544"/>
            <a:ext cx="8503920" cy="1207008"/>
          </a:xfrm>
          <a:prstGeom prst="rect">
            <a:avLst>
              <a:gd name="adj" fmla="val 4545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352544"/>
            <a:ext cx="201168" cy="1207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439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773168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interactions become economic primitives — tipping, gating, access passes, and engagement rewards.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55778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"Social becomes the entry point into on-chain economies."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2688336" cy="3822192"/>
          </a:xfrm>
          <a:prstGeom prst="rect">
            <a:avLst>
              <a:gd name="adj" fmla="val 2041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2688336" cy="420624"/>
          </a:xfrm>
          <a:prstGeom prst="rect">
            <a:avLst/>
          </a:prstGeom>
          <a:solidFill>
            <a:srgbClr val="2DD4B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6459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(On-chain)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" y="2121408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Ownership &amp; identity objects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" y="2816352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metadata + blob_id refs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0936" y="351129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lifecycle logic (Move)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" y="4206240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graph on-chain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83280" y="1572768"/>
            <a:ext cx="2688336" cy="3822192"/>
          </a:xfrm>
          <a:prstGeom prst="rect">
            <a:avLst>
              <a:gd name="adj" fmla="val 2041"/>
            </a:avLst>
          </a:prstGeom>
          <a:solidFill>
            <a:srgbClr val="121A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572768"/>
            <a:ext cx="2688336" cy="420624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511296" y="16459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(Off-chain)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11296" y="2121408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Blob content storage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11296" y="2816352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+ cost-efficient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11296" y="351129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Decentralized retrieval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4206240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Permanent content layer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1572768"/>
            <a:ext cx="2688336" cy="3822192"/>
          </a:xfrm>
          <a:prstGeom prst="rect">
            <a:avLst>
              <a:gd name="adj" fmla="val 2041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572768"/>
            <a:ext cx="2688336" cy="420624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1645920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React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91656" y="2121408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→ link → retrieve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91656" y="2816352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Neon Postgres (social graph)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91656" y="3511296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+ JWT auth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91656" y="4206240"/>
            <a:ext cx="24323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frontend + Vercel deploy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5522976"/>
            <a:ext cx="8503920" cy="493776"/>
          </a:xfrm>
          <a:prstGeom prst="rect">
            <a:avLst>
              <a:gd name="adj" fmla="val 7407"/>
            </a:avLst>
          </a:prstGeom>
          <a:solidFill>
            <a:srgbClr val="0D154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5522976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= Trust   |   Walrus = Scale   |   myWorld = Product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8503920" cy="914400"/>
          </a:xfrm>
          <a:prstGeom prst="rect">
            <a:avLst>
              <a:gd name="adj" fmla="val 5000"/>
            </a:avLst>
          </a:prstGeom>
          <a:solidFill>
            <a:srgbClr val="121A42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72768"/>
            <a:ext cx="237744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" y="1572768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Walrus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7824" y="1956816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superficial — actual blob uploads, retrieval, and on-chain linking in production.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615184"/>
            <a:ext cx="8503920" cy="914400"/>
          </a:xfrm>
          <a:prstGeom prst="rect">
            <a:avLst>
              <a:gd name="adj" fmla="val 5000"/>
            </a:avLst>
          </a:prstGeom>
          <a:solidFill>
            <a:srgbClr val="121A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615184"/>
            <a:ext cx="237744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2615184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" y="26883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Content-Addressed 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7824" y="2999232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content is an object, not a record. First-class on-chain citizens.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8503920" cy="914400"/>
          </a:xfrm>
          <a:prstGeom prst="rect">
            <a:avLst>
              <a:gd name="adj" fmla="val 5000"/>
            </a:avLst>
          </a:prstGeom>
          <a:solidFill>
            <a:srgbClr val="121A42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657600"/>
            <a:ext cx="237744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" y="3657600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7824" y="37307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Financialized Social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" y="404164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First-step toward creator economies on Sui — built for real usage, not TVL chasing.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4700016"/>
            <a:ext cx="8503920" cy="914400"/>
          </a:xfrm>
          <a:prstGeom prst="rect">
            <a:avLst>
              <a:gd name="adj" fmla="val 5000"/>
            </a:avLst>
          </a:prstGeom>
          <a:solidFill>
            <a:srgbClr val="121A42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4700016"/>
            <a:ext cx="237744" cy="9144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" y="4700016"/>
            <a:ext cx="2377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7824" y="47731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Consumer-First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" y="508406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 flow, email verification, follow graph, notifications — not a demo, a product.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5760720"/>
            <a:ext cx="8503920" cy="18288"/>
          </a:xfrm>
          <a:prstGeom prst="rect">
            <a:avLst/>
          </a:prstGeom>
          <a:solidFill>
            <a:srgbClr val="2DD4B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3931920" cy="804672"/>
          </a:xfrm>
          <a:prstGeom prst="rect">
            <a:avLst>
              <a:gd name="adj" fmla="val 5682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116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Artists, writers, content creators seeking ownership.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3931920" cy="804672"/>
          </a:xfrm>
          <a:prstGeom prst="rect">
            <a:avLst>
              <a:gd name="adj" fmla="val 5682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926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sports, ONE Championship ecosystem audience.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767328"/>
            <a:ext cx="3931920" cy="804672"/>
          </a:xfrm>
          <a:prstGeom prst="rect">
            <a:avLst>
              <a:gd name="adj" fmla="val 5682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8404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who want a stake in their favorite creators.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681728"/>
            <a:ext cx="3931920" cy="804672"/>
          </a:xfrm>
          <a:prstGeom prst="rect">
            <a:avLst>
              <a:gd name="adj" fmla="val 5682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754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Natives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5029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 already in the Sui / Move ecosystem.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0600" y="157276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Strategy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00600" y="1938528"/>
            <a:ext cx="4206240" cy="1133856"/>
          </a:xfrm>
          <a:prstGeom prst="rect">
            <a:avLst>
              <a:gd name="adj" fmla="val 4032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01168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Championship Fanbase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56048" y="2322576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sports community — highly engaged, mobile-first, global.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3200400"/>
            <a:ext cx="4206240" cy="1133856"/>
          </a:xfrm>
          <a:prstGeom prst="rect">
            <a:avLst>
              <a:gd name="adj" fmla="val 4032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327355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Ecosystem Events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56048" y="3584448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Hackathons and grants to build community from the protocol up.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00600" y="4462272"/>
            <a:ext cx="4206240" cy="1133856"/>
          </a:xfrm>
          <a:prstGeom prst="rect">
            <a:avLst>
              <a:gd name="adj" fmla="val 4032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4535424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Onboarding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56048" y="4846320"/>
            <a:ext cx="3913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onboarding for initial creator cohort to drive content.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LAYER — CRITICAL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= Social → Financial Layer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 →  Interaction  →  Value  →  On-chain Economy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029968"/>
            <a:ext cx="4069080" cy="1517904"/>
          </a:xfrm>
          <a:prstGeom prst="rect">
            <a:avLst>
              <a:gd name="adj" fmla="val 3614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029968"/>
            <a:ext cx="4069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" y="2176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Tipping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" y="2505456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send micro-payments directly on-chain. No intermediary cut. Instant settlement via Sui.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2029968"/>
            <a:ext cx="4069080" cy="1517904"/>
          </a:xfrm>
          <a:prstGeom prst="rect">
            <a:avLst>
              <a:gd name="adj" fmla="val 3614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029968"/>
            <a:ext cx="40690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4946904" y="2176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Content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46904" y="2505456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Token-gated posts powered by Seal protocol. Creators set access criteria — fans pay to unlock.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730752"/>
            <a:ext cx="4069080" cy="1517904"/>
          </a:xfrm>
          <a:prstGeom prst="rect">
            <a:avLst>
              <a:gd name="adj" fmla="val 3614"/>
            </a:avLst>
          </a:prstGeom>
          <a:solidFill>
            <a:srgbClr val="121A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730752"/>
            <a:ext cx="40690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" y="38770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Access Passes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" y="4206240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NFT-based membership passes. Tradeable. Secondary market value accrues to creators.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00600" y="3730752"/>
            <a:ext cx="4069080" cy="1517904"/>
          </a:xfrm>
          <a:prstGeom prst="rect">
            <a:avLst>
              <a:gd name="adj" fmla="val 3614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730752"/>
            <a:ext cx="4069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946904" y="38770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Rewards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46904" y="4206240"/>
            <a:ext cx="3749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proof of interaction. Engagement earns — comments, shares, and quality content are valued.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Built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4069080" cy="987552"/>
          </a:xfrm>
          <a:prstGeom prst="rect">
            <a:avLst>
              <a:gd name="adj" fmla="val 463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" y="1773936"/>
            <a:ext cx="530352" cy="530352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17739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71016" y="1682496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deployed on Sui Testnet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88336"/>
            <a:ext cx="4069080" cy="987552"/>
          </a:xfrm>
          <a:prstGeom prst="rect">
            <a:avLst>
              <a:gd name="adj" fmla="val 463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" y="2889504"/>
            <a:ext cx="530352" cy="530352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28895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71016" y="2798064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fully integrated: upload, link, retrieve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803904"/>
            <a:ext cx="4069080" cy="987552"/>
          </a:xfrm>
          <a:prstGeom prst="rect">
            <a:avLst>
              <a:gd name="adj" fmla="val 463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" y="4005072"/>
            <a:ext cx="530352" cy="530352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4005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71016" y="3913632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system live (Resend + custom domain)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572768"/>
            <a:ext cx="4069080" cy="987552"/>
          </a:xfrm>
          <a:prstGeom prst="rect">
            <a:avLst>
              <a:gd name="adj" fmla="val 463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46904" y="1773936"/>
            <a:ext cx="530352" cy="530352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946904" y="177393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68696" y="1682496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/ unfollow social graph functional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2688336"/>
            <a:ext cx="4069080" cy="987552"/>
          </a:xfrm>
          <a:prstGeom prst="rect">
            <a:avLst>
              <a:gd name="adj" fmla="val 463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46904" y="2889504"/>
            <a:ext cx="530352" cy="530352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46904" y="288950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68696" y="2798064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 operational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3803904"/>
            <a:ext cx="4069080" cy="987552"/>
          </a:xfrm>
          <a:prstGeom prst="rect">
            <a:avLst>
              <a:gd name="adj" fmla="val 4630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46904" y="4005072"/>
            <a:ext cx="530352" cy="530352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46904" y="4005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68696" y="3913632"/>
            <a:ext cx="31821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working system — no mocks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5084064"/>
            <a:ext cx="8503920" cy="493776"/>
          </a:xfrm>
          <a:prstGeom prst="rect">
            <a:avLst>
              <a:gd name="adj" fmla="val 9259"/>
            </a:avLst>
          </a:prstGeom>
          <a:solidFill>
            <a:srgbClr val="2DD4BF">
              <a:alpha val="9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084064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→   myworld-app.vercel.app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myWorld Generates Value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2688336" cy="4078224"/>
          </a:xfrm>
          <a:prstGeom prst="rect">
            <a:avLst>
              <a:gd name="adj" fmla="val 2041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2688336" cy="384048"/>
          </a:xfrm>
          <a:prstGeom prst="rect">
            <a:avLst/>
          </a:prstGeom>
          <a:solidFill>
            <a:srgbClr val="2DD4B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62763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Now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" y="2029968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Usage (Growth)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" y="2615184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Frictionless onboarding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" y="331012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fees on interactions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" y="400507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Focus: user acquisition + content creation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1572768"/>
            <a:ext cx="2688336" cy="4078224"/>
          </a:xfrm>
          <a:prstGeom prst="rect">
            <a:avLst>
              <a:gd name="adj" fmla="val 2041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572768"/>
            <a:ext cx="2688336" cy="384048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511296" y="162763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Mid Term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11296" y="2029968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Tools + Fees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11296" y="2615184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creator toolset subscription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11296" y="331012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fees on on-chain interactions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11296" y="400507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share: 90% creator / 10% protocol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572768"/>
            <a:ext cx="2688336" cy="4078224"/>
          </a:xfrm>
          <a:prstGeom prst="rect">
            <a:avLst>
              <a:gd name="adj" fmla="val 2041"/>
            </a:avLst>
          </a:prstGeom>
          <a:solidFill>
            <a:srgbClr val="121A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572768"/>
            <a:ext cx="2688336" cy="384048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162763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Long Term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91656" y="2029968"/>
            <a:ext cx="243230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 Infrastructure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91656" y="2615184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On-chain monetization primitives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391656" y="331012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social infrastructure for brands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91656" y="400507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Protocol fee on all ecosystem transactions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5742432"/>
            <a:ext cx="8503920" cy="274320"/>
          </a:xfrm>
          <a:prstGeom prst="rect">
            <a:avLst/>
          </a:prstGeom>
          <a:solidFill>
            <a:srgbClr val="0D154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57424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is a potential on-chain economic event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for Sui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4069080" cy="1719072"/>
          </a:xfrm>
          <a:prstGeom prst="rect">
            <a:avLst>
              <a:gd name="adj" fmla="val 3191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7373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Object-Based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7512" y="20848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Sui's object-centric architecture is the ideal primitive for social content. Every post, profile, and relationship is a first-class owned object.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4069080" cy="1719072"/>
          </a:xfrm>
          <a:prstGeom prst="rect">
            <a:avLst>
              <a:gd name="adj" fmla="val 3191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73736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Finality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5192" y="208483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feel instant. Likes, tips, and follows settle in under a second — critical for consumer UX.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4069080" cy="1719072"/>
          </a:xfrm>
          <a:prstGeom prst="rect">
            <a:avLst>
              <a:gd name="adj" fmla="val 3191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639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Walrus Integration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" y="3986784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was built for Sui. Off-chain storage linked on-chain without bridges or trust assumptions.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3474720"/>
            <a:ext cx="4069080" cy="1719072"/>
          </a:xfrm>
          <a:prstGeom prst="rect">
            <a:avLst>
              <a:gd name="adj" fmla="val 3191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36393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Consumer Apps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65192" y="3986784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gas, high throughput. Sui can handle the transaction volume of a real social network at scale.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546811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"myWorld is built natively for Sui's strengths — not ported from another chain."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40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011680"/>
            <a:ext cx="5486400" cy="5486400"/>
          </a:xfrm>
          <a:prstGeom prst="ellipse">
            <a:avLst/>
          </a:prstGeom>
          <a:solidFill>
            <a:srgbClr val="2DD4B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Social Layer</a:t>
            </a:r>
            <a:endParaRPr lang="en-US" sz="5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Web3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3200400" y="3547872"/>
            <a:ext cx="3108960" cy="6400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822192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owns their identity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4315968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post is an asset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4809744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can become value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5394960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life shouldn't be owned by platforms."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Creator Economy on Sui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72768"/>
            <a:ext cx="2048256" cy="3986784"/>
          </a:xfrm>
          <a:prstGeom prst="rect">
            <a:avLst>
              <a:gd name="adj" fmla="val 2679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93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182880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3230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social + Walrus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+ email verification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Follow graph + notifications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1713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at myworld-app.vercel.app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96896" y="1572768"/>
            <a:ext cx="2048256" cy="3986784"/>
          </a:xfrm>
          <a:prstGeom prst="rect">
            <a:avLst>
              <a:gd name="adj" fmla="val 2679"/>
            </a:avLst>
          </a:prstGeom>
          <a:solidFill>
            <a:srgbClr val="121A4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06624" y="1993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06624" y="2304288"/>
            <a:ext cx="1828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706624" y="243230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 indexing + discovery algorithm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06624" y="312724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Mobile-optimized UI/UX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06624" y="38221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Creator analytics dashboard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06624" y="451713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moderation layer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572768"/>
            <a:ext cx="2048256" cy="3986784"/>
          </a:xfrm>
          <a:prstGeom prst="rect">
            <a:avLst>
              <a:gd name="adj" fmla="val 2679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6048" y="1993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56048" y="2304288"/>
            <a:ext cx="18288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956048" y="243230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Seal integration (token-gated content)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312724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post subscription model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38221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Creator tipping (on-chain)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451713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Fan access NFT passes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95744" y="1572768"/>
            <a:ext cx="2048256" cy="3986784"/>
          </a:xfrm>
          <a:prstGeom prst="rect">
            <a:avLst>
              <a:gd name="adj" fmla="val 2679"/>
            </a:avLst>
          </a:prstGeom>
          <a:solidFill>
            <a:srgbClr val="121A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05472" y="16824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05472" y="1993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05472" y="2304288"/>
            <a:ext cx="182880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7205472" y="2432304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creator economy (DeFi layer)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05472" y="3127248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Engagement-based reward protocol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05472" y="3822192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White-label social infrastructure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05472" y="4517136"/>
            <a:ext cx="1828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Cross-chain social identity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3108960" cy="3108960"/>
          </a:xfrm>
          <a:prstGeom prst="ellipse">
            <a:avLst/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840480" y="1572768"/>
            <a:ext cx="5166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Mal. Faruk Dakta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40480" y="2084832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Saffas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2578608"/>
            <a:ext cx="5166360" cy="512064"/>
          </a:xfrm>
          <a:prstGeom prst="rect">
            <a:avLst>
              <a:gd name="adj" fmla="val 7143"/>
            </a:avLst>
          </a:prstGeom>
          <a:solidFill>
            <a:srgbClr val="121A42"/>
          </a:solidFill>
          <a:ln/>
        </p:spPr>
      </p:sp>
      <p:sp>
        <p:nvSpPr>
          <p:cNvPr id="12" name="Text 10"/>
          <p:cNvSpPr/>
          <p:nvPr/>
        </p:nvSpPr>
        <p:spPr>
          <a:xfrm>
            <a:off x="3986784" y="2615184"/>
            <a:ext cx="4864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Full-stack engineer (Node.js / React / Vite)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0" y="3182112"/>
            <a:ext cx="5166360" cy="512064"/>
          </a:xfrm>
          <a:prstGeom prst="rect">
            <a:avLst>
              <a:gd name="adj" fmla="val 7143"/>
            </a:avLst>
          </a:prstGeom>
          <a:solidFill>
            <a:srgbClr val="121A42"/>
          </a:solidFill>
          <a:ln/>
        </p:spPr>
      </p:sp>
      <p:sp>
        <p:nvSpPr>
          <p:cNvPr id="14" name="Text 12"/>
          <p:cNvSpPr/>
          <p:nvPr/>
        </p:nvSpPr>
        <p:spPr>
          <a:xfrm>
            <a:off x="3986784" y="3218688"/>
            <a:ext cx="4864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Blockchain developer — Sui + Move smart contracts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0" y="3785616"/>
            <a:ext cx="5166360" cy="512064"/>
          </a:xfrm>
          <a:prstGeom prst="rect">
            <a:avLst>
              <a:gd name="adj" fmla="val 7143"/>
            </a:avLst>
          </a:prstGeom>
          <a:solidFill>
            <a:srgbClr val="121A42"/>
          </a:solidFill>
          <a:ln/>
        </p:spPr>
      </p:sp>
      <p:sp>
        <p:nvSpPr>
          <p:cNvPr id="16" name="Text 14"/>
          <p:cNvSpPr/>
          <p:nvPr/>
        </p:nvSpPr>
        <p:spPr>
          <a:xfrm>
            <a:off x="3986784" y="3822192"/>
            <a:ext cx="4864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Walrus integration architect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4389120"/>
            <a:ext cx="5166360" cy="512064"/>
          </a:xfrm>
          <a:prstGeom prst="rect">
            <a:avLst>
              <a:gd name="adj" fmla="val 7143"/>
            </a:avLst>
          </a:prstGeom>
          <a:solidFill>
            <a:srgbClr val="121A42"/>
          </a:solidFill>
          <a:ln/>
        </p:spPr>
      </p:sp>
      <p:sp>
        <p:nvSpPr>
          <p:cNvPr id="18" name="Text 16"/>
          <p:cNvSpPr/>
          <p:nvPr/>
        </p:nvSpPr>
        <p:spPr>
          <a:xfrm>
            <a:off x="3986784" y="4425696"/>
            <a:ext cx="4864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Deployed complete system end-to-end, solo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0" y="5102352"/>
            <a:ext cx="5166360" cy="603504"/>
          </a:xfrm>
          <a:prstGeom prst="rect">
            <a:avLst>
              <a:gd name="adj" fmla="val 7576"/>
            </a:avLst>
          </a:prstGeom>
          <a:solidFill>
            <a:srgbClr val="2DD4BF">
              <a:alpha val="12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5138928"/>
            <a:ext cx="4864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"Built and shipped a complete full-stack Web3 social platform solo."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0972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75488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Looking For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53312"/>
            <a:ext cx="8503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72768"/>
            <a:ext cx="8503920" cy="1261872"/>
          </a:xfrm>
          <a:prstGeom prst="rect">
            <a:avLst>
              <a:gd name="adj" fmla="val 4348"/>
            </a:avLst>
          </a:prstGeom>
          <a:solidFill>
            <a:srgbClr val="121A42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201168" cy="126187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6824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Collaboration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integration with Sui core team — Seal, zkLogin, sponsored transactions to enhance user experience.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8503920" cy="1261872"/>
          </a:xfrm>
          <a:prstGeom prst="rect">
            <a:avLst>
              <a:gd name="adj" fmla="val 4348"/>
            </a:avLst>
          </a:prstGeom>
          <a:solidFill>
            <a:srgbClr val="121A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017520"/>
            <a:ext cx="201168" cy="12618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12724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Distribution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" y="347472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reaching creator communities, athletes, and the ONE Championship fanbase to drive initial adoption.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8503920" cy="1261872"/>
          </a:xfrm>
          <a:prstGeom prst="rect">
            <a:avLst>
              <a:gd name="adj" fmla="val 4348"/>
            </a:avLst>
          </a:prstGeom>
          <a:solidFill>
            <a:srgbClr val="121A4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462272"/>
            <a:ext cx="201168" cy="12618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5720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to Scale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" y="4919472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Grants, token incentives, or ecosystem support to fund the DeFi layer — tipping, gating, and engagement rewards.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2920" y="5833872"/>
            <a:ext cx="8503920" cy="54864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54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ln w="12700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474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— SUI X ONE SAMURAI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World.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World.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2926080" y="3163824"/>
            <a:ext cx="36576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364992"/>
            <a:ext cx="8503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05993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myworld-app.vercel.app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535424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Social Protocol on Sui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5980176"/>
            <a:ext cx="12192000" cy="877824"/>
          </a:xfrm>
          <a:prstGeom prst="rect">
            <a:avLst/>
          </a:prstGeom>
          <a:solidFill>
            <a:srgbClr val="0A0F2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60350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x ONE Samurai Hackathon   |   Tokyo, April 2026   |   Demo Day: Ariake Arena Apr 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2026-04-24T10:03:30Z</dcterms:created>
  <dcterms:modified xsi:type="dcterms:W3CDTF">2026-04-24T10:03:30Z</dcterms:modified>
</cp:coreProperties>
</file>